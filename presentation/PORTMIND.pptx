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20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076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OCEANVANTA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73909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Container Congestion Predictor &amp; Port Operations Optimiser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404792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smtClean="0">
                <a:latin typeface="Inter" pitchFamily="34" charset="0"/>
                <a:ea typeface="Inter" pitchFamily="34" charset="-122"/>
                <a:cs typeface="Inter" pitchFamily="34" charset="-120"/>
              </a:rPr>
              <a:t>Team  Name – The Titans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50" kern="0" spc="-30" dirty="0" smtClean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smtClean="0">
                <a:latin typeface="Inter" pitchFamily="34" charset="0"/>
                <a:ea typeface="Inter" pitchFamily="34" charset="-122"/>
                <a:cs typeface="Inter" pitchFamily="34" charset="-120"/>
              </a:rPr>
              <a:t>Predict </a:t>
            </a:r>
            <a:r>
              <a:rPr lang="en-US" sz="1450" kern="0" spc="-30" dirty="0">
                <a:latin typeface="Inter" pitchFamily="34" charset="0"/>
                <a:ea typeface="Inter" pitchFamily="34" charset="-122"/>
                <a:cs typeface="Inter" pitchFamily="34" charset="-120"/>
              </a:rPr>
              <a:t>congestion. Optimise operations. Act before delays escalate.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Port Congestion Problem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61475" y="1150669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4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1421161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513487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b="1" dirty="0"/>
              <a:t>Unpredictable arrivals</a:t>
            </a:r>
            <a:endParaRPr lang="en-US" sz="1650" b="1" dirty="0"/>
          </a:p>
        </p:txBody>
      </p:sp>
      <p:sp>
        <p:nvSpPr>
          <p:cNvPr id="7" name="Text 4"/>
          <p:cNvSpPr/>
          <p:nvPr/>
        </p:nvSpPr>
        <p:spPr>
          <a:xfrm>
            <a:off x="661475" y="182807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dirty="0"/>
              <a:t>Vessel schedules and ETAs change continuously.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2193997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4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2531950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43012" y="263645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b="1" dirty="0"/>
              <a:t>Cascading delays</a:t>
            </a:r>
            <a:endParaRPr lang="en-US" sz="1650" b="1" dirty="0"/>
          </a:p>
        </p:txBody>
      </p:sp>
      <p:sp>
        <p:nvSpPr>
          <p:cNvPr id="11" name="Text 8"/>
          <p:cNvSpPr/>
          <p:nvPr/>
        </p:nvSpPr>
        <p:spPr>
          <a:xfrm>
            <a:off x="661475" y="292636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/>
              <a:t>Late vessels increase pressure on berths, cranes and port capacity.</a:t>
            </a:r>
          </a:p>
        </p:txBody>
      </p:sp>
      <p:sp>
        <p:nvSpPr>
          <p:cNvPr id="12" name="Text 9"/>
          <p:cNvSpPr/>
          <p:nvPr/>
        </p:nvSpPr>
        <p:spPr>
          <a:xfrm>
            <a:off x="661475" y="3274025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4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3532949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362974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b="1" dirty="0"/>
              <a:t>Manual decisions</a:t>
            </a:r>
            <a:endParaRPr lang="en-US" sz="1650" b="1" dirty="0"/>
          </a:p>
        </p:txBody>
      </p:sp>
      <p:sp>
        <p:nvSpPr>
          <p:cNvPr id="15" name="Text 12"/>
          <p:cNvSpPr/>
          <p:nvPr/>
        </p:nvSpPr>
        <p:spPr>
          <a:xfrm>
            <a:off x="643012" y="3897336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dirty="0"/>
              <a:t>Operators must repeatedly re-plan vessel arrivals and resources.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4217235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4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4581603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4664290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b="1" dirty="0"/>
              <a:t>Limited foresight</a:t>
            </a:r>
            <a:endParaRPr lang="en-US" sz="1650" b="1" dirty="0"/>
          </a:p>
        </p:txBody>
      </p:sp>
      <p:sp>
        <p:nvSpPr>
          <p:cNvPr id="19" name="Text 16"/>
          <p:cNvSpPr/>
          <p:nvPr/>
        </p:nvSpPr>
        <p:spPr>
          <a:xfrm>
            <a:off x="661475" y="4996275"/>
            <a:ext cx="5723694" cy="261243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>
              <a:lnSpc>
                <a:spcPct val="127000"/>
              </a:lnSpc>
            </a:pPr>
            <a:r>
              <a:rPr lang="en-US" sz="1400" dirty="0"/>
              <a:t>Existing workflows may identify delays without immediately translating </a:t>
            </a:r>
            <a:r>
              <a:rPr lang="en-US" sz="1400" dirty="0" smtClean="0"/>
              <a:t>them. </a:t>
            </a:r>
            <a:r>
              <a:rPr lang="en-US" sz="1400" dirty="0"/>
              <a:t>into operational actions.</a:t>
            </a:r>
            <a:endParaRPr lang="en-US" sz="1300" dirty="0"/>
          </a:p>
        </p:txBody>
      </p:sp>
      <p:sp>
        <p:nvSpPr>
          <p:cNvPr id="22" name="Rectangle 21"/>
          <p:cNvSpPr/>
          <p:nvPr/>
        </p:nvSpPr>
        <p:spPr>
          <a:xfrm>
            <a:off x="643012" y="5719987"/>
            <a:ext cx="6096000" cy="7958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7000"/>
              </a:lnSpc>
            </a:pPr>
            <a:r>
              <a:rPr lang="en-US" dirty="0"/>
              <a:t>Port operators need an early-warning system that connects congestion prediction directly to operational decisions.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368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PortMind: From Prediction to Action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1486479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2085" y="148647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— Predict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12085" y="1895161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vessel congestion/delay risk before arrival using feature-engineered AIS &amp; schedule inputs.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550" y="1486479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3745" y="148647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— Optimise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713745" y="1895161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risk into route, berth and crane recommendations for operators.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90" y="4034294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12086" y="4034294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— Plan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2012086" y="4442976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 actionable 72-hour operations plan integrating predicted risk and resource constraints.</a:t>
            </a:r>
            <a:endParaRPr lang="en-US" sz="14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208" y="1486479"/>
            <a:ext cx="3772187" cy="4883799"/>
          </a:xfrm>
          <a:prstGeom prst="rect">
            <a:avLst/>
          </a:prstGeom>
        </p:spPr>
      </p:pic>
      <p:sp>
        <p:nvSpPr>
          <p:cNvPr id="13" name="AutoShape 2" descr="Generated image: IBM Technologies Platform Integr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3883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3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05" y="233255"/>
            <a:ext cx="11079294" cy="64723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493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Congestion Prediction → Operational Decision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22327"/>
            <a:ext cx="4637269" cy="3478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3125490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flow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766251" y="3609777"/>
            <a:ext cx="5770220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vessel schedule / tracking CSV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vessel and request prediction (POST /api/predictions/delay)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runs ensemble model → returns probability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module maps probability to actions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174" y="3094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b="1" dirty="0"/>
              <a:t>Measured ML Performance &amp; Dataset Scale</a:t>
            </a:r>
            <a:endParaRPr lang="en-US" sz="3700" b="1" dirty="0"/>
          </a:p>
        </p:txBody>
      </p:sp>
      <p:sp>
        <p:nvSpPr>
          <p:cNvPr id="3" name="Shape 1"/>
          <p:cNvSpPr/>
          <p:nvPr/>
        </p:nvSpPr>
        <p:spPr>
          <a:xfrm>
            <a:off x="661475" y="1231205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42656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183524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823,672 tracking rows · 2,516 unique voyages · 22 input features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231205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142656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1835249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+ LightGBM ensemble (50/50) · Congestion threshold = 0.35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231205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142656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performance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183524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ROC-AUC: 93.14% · Accuracy: </a:t>
            </a:r>
            <a:r>
              <a:rPr lang="en-US" sz="1450" kern="0" spc="-3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87.83% 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Congestion Recall: </a:t>
            </a:r>
            <a:r>
              <a:rPr lang="en-US" sz="1450" kern="0" spc="-3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89.39%</a:t>
            </a:r>
            <a:endParaRPr lang="en-US" sz="14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47" y="3438029"/>
            <a:ext cx="3819235" cy="2966545"/>
          </a:xfrm>
          <a:prstGeom prst="rect">
            <a:avLst/>
          </a:prstGeom>
        </p:spPr>
      </p:pic>
      <p:sp>
        <p:nvSpPr>
          <p:cNvPr id="14" name="AutoShape 2" descr="blob:https://web.whatsapp.com/6e73db61-7562-4d1f-ba42-c3bbb38bd8a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904" y="3133229"/>
            <a:ext cx="4266205" cy="3440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695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PortMind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3158"/>
            <a:ext cx="562358" cy="5623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8437" y="1453158"/>
            <a:ext cx="17792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Romit</a:t>
            </a:r>
            <a:r>
              <a:rPr lang="en-US" sz="1750" b="1" kern="0" spc="-53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1750" b="1" kern="0" spc="-53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Kakadiya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33080" y="1745158"/>
            <a:ext cx="177924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ML Engineering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288" y="1453158"/>
            <a:ext cx="562358" cy="5623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9250" y="1453158"/>
            <a:ext cx="17792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Anmol Dholiya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216281" y="1751051"/>
            <a:ext cx="177924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Backend Developer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100" y="1453158"/>
            <a:ext cx="562358" cy="5623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063" y="1453158"/>
            <a:ext cx="189039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Krish</a:t>
            </a:r>
            <a:r>
              <a:rPr lang="en-US" sz="1750" b="1" kern="0" spc="-53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1750" b="1" kern="0" spc="-53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Bhingradiya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960644" y="1734641"/>
            <a:ext cx="177924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Frontend Developer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3913" y="1453158"/>
            <a:ext cx="562358" cy="5623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50876" y="1453158"/>
            <a:ext cx="17793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Avi</a:t>
            </a:r>
            <a:r>
              <a:rPr lang="en-US" sz="1750" b="1" kern="0" spc="-53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Patel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9743845" y="1755675"/>
            <a:ext cx="177934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UI/IX + Documentation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61475" y="263872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661475" y="2966641"/>
            <a:ext cx="10868745" cy="233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50" b="1" kern="0" spc="-1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PortMind turns vessel data into an actionable congestion &amp; port-operations decision system.</a:t>
            </a:r>
            <a:endParaRPr lang="en-US" sz="4850" dirty="0"/>
          </a:p>
        </p:txBody>
      </p:sp>
      <p:sp>
        <p:nvSpPr>
          <p:cNvPr id="17" name="Text 11"/>
          <p:cNvSpPr/>
          <p:nvPr/>
        </p:nvSpPr>
        <p:spPr>
          <a:xfrm>
            <a:off x="661475" y="5555159"/>
            <a:ext cx="10868745" cy="7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→ Prioritise → Optimise → Plan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PortMind | Logistics &amp; Ports — L1 | IBM/Bob AI Hackathon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294</Words>
  <Application>Microsoft Office PowerPoint</Application>
  <PresentationFormat>Widescreen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</vt:lpstr>
      <vt:lpstr>Inter Bold</vt:lpstr>
      <vt:lpstr>Calibri</vt:lpstr>
      <vt:lpstr>Inter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16</cp:revision>
  <dcterms:created xsi:type="dcterms:W3CDTF">2026-09-15T10:11:07Z</dcterms:created>
  <dcterms:modified xsi:type="dcterms:W3CDTF">2026-09-15T13:15:38Z</dcterms:modified>
</cp:coreProperties>
</file>